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3"/>
  </p:notesMasterIdLst>
  <p:sldIdLst>
    <p:sldId id="259" r:id="rId2"/>
  </p:sldIdLst>
  <p:sldSz cx="6588125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2B2"/>
    <a:srgbClr val="E2D9E9"/>
    <a:srgbClr val="FBE197"/>
    <a:srgbClr val="F6E2A0"/>
    <a:srgbClr val="C9809E"/>
    <a:srgbClr val="D9EAD3"/>
    <a:srgbClr val="FFF3CC"/>
    <a:srgbClr val="A71636"/>
    <a:srgbClr val="E06666"/>
    <a:srgbClr val="F1C3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6"/>
    <p:restoredTop sz="94593"/>
  </p:normalViewPr>
  <p:slideViewPr>
    <p:cSldViewPr snapToGrid="0" snapToObjects="1">
      <p:cViewPr varScale="1">
        <p:scale>
          <a:sx n="200" d="100"/>
          <a:sy n="200" d="100"/>
        </p:scale>
        <p:origin x="160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A5A05-5270-2743-8ADD-57E98044978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74763" y="1143000"/>
            <a:ext cx="94075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1AF4B-5739-C740-9740-626C73FBA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6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0B624-5448-A1A9-B2DF-5F7DD996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B00C3-F6A6-9B31-CAC5-7FF3B0544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274763" y="1143000"/>
            <a:ext cx="9407526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5C620-D004-85BC-A50C-F30CA7D38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C1C24-A9A2-DFEE-4831-8D41EDCA8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1AF4B-5739-C740-9740-626C73FBA1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76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516" y="353596"/>
            <a:ext cx="4941094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516" y="1134809"/>
            <a:ext cx="4941094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97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5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02" y="538647"/>
            <a:ext cx="5682258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502" y="1445894"/>
            <a:ext cx="5682258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4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934" y="575157"/>
            <a:ext cx="2799953" cy="1370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5238" y="575157"/>
            <a:ext cx="2799953" cy="1370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0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15031"/>
            <a:ext cx="5682258" cy="417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792" y="529645"/>
            <a:ext cx="2787085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792" y="789215"/>
            <a:ext cx="2787085" cy="1160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238" y="529645"/>
            <a:ext cx="2800811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5238" y="789215"/>
            <a:ext cx="2800811" cy="1160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9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1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6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44039"/>
            <a:ext cx="2124842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0811" y="311085"/>
            <a:ext cx="3335238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648176"/>
            <a:ext cx="2124842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22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44039"/>
            <a:ext cx="2124842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00811" y="311085"/>
            <a:ext cx="3335238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648176"/>
            <a:ext cx="2124842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9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1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4627" y="115032"/>
            <a:ext cx="1420564" cy="18309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933" y="115032"/>
            <a:ext cx="4179342" cy="18309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5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934" y="115031"/>
            <a:ext cx="5682258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934" y="575157"/>
            <a:ext cx="5682258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934" y="2002545"/>
            <a:ext cx="1482328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4D9E9-5EC3-D444-8E38-E43C59FC4D54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2317" y="2002545"/>
            <a:ext cx="2223492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2863" y="2002545"/>
            <a:ext cx="1482328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99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FE472-01C6-DCD8-0A46-064A443D3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D218D16A-A19D-F9C2-56BE-EF68B50C71B7}"/>
              </a:ext>
            </a:extLst>
          </p:cNvPr>
          <p:cNvGrpSpPr/>
          <p:nvPr/>
        </p:nvGrpSpPr>
        <p:grpSpPr>
          <a:xfrm>
            <a:off x="61025" y="163302"/>
            <a:ext cx="6482747" cy="1833984"/>
            <a:chOff x="61025" y="135824"/>
            <a:chExt cx="6482747" cy="1833984"/>
          </a:xfrm>
        </p:grpSpPr>
        <p:sp>
          <p:nvSpPr>
            <p:cNvPr id="33" name="Google Shape;541;p53">
              <a:extLst>
                <a:ext uri="{FF2B5EF4-FFF2-40B4-BE49-F238E27FC236}">
                  <a16:creationId xmlns:a16="http://schemas.microsoft.com/office/drawing/2014/main" id="{F71DA747-25DA-9084-A4B2-7C2E7BC346E7}"/>
                </a:ext>
              </a:extLst>
            </p:cNvPr>
            <p:cNvSpPr/>
            <p:nvPr/>
          </p:nvSpPr>
          <p:spPr>
            <a:xfrm>
              <a:off x="5032801" y="328392"/>
              <a:ext cx="1510971" cy="14759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endParaRPr lang="en-US" sz="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Google Shape;541;p53">
              <a:extLst>
                <a:ext uri="{FF2B5EF4-FFF2-40B4-BE49-F238E27FC236}">
                  <a16:creationId xmlns:a16="http://schemas.microsoft.com/office/drawing/2014/main" id="{2603F931-518C-4EAB-AE7D-62DF3500ED9F}"/>
                </a:ext>
              </a:extLst>
            </p:cNvPr>
            <p:cNvSpPr/>
            <p:nvPr/>
          </p:nvSpPr>
          <p:spPr>
            <a:xfrm>
              <a:off x="5011201" y="342792"/>
              <a:ext cx="1510971" cy="14759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endParaRPr lang="en-US" sz="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Google Shape;541;p53">
              <a:extLst>
                <a:ext uri="{FF2B5EF4-FFF2-40B4-BE49-F238E27FC236}">
                  <a16:creationId xmlns:a16="http://schemas.microsoft.com/office/drawing/2014/main" id="{4B8F6F00-893C-6951-F605-327648B1FB42}"/>
                </a:ext>
              </a:extLst>
            </p:cNvPr>
            <p:cNvSpPr/>
            <p:nvPr/>
          </p:nvSpPr>
          <p:spPr>
            <a:xfrm>
              <a:off x="4989601" y="357192"/>
              <a:ext cx="1510971" cy="14759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endParaRPr lang="en-US" sz="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Google Shape;541;p53">
              <a:extLst>
                <a:ext uri="{FF2B5EF4-FFF2-40B4-BE49-F238E27FC236}">
                  <a16:creationId xmlns:a16="http://schemas.microsoft.com/office/drawing/2014/main" id="{FA0E10B3-041C-2DA5-AF2E-FCE37170B3A3}"/>
                </a:ext>
              </a:extLst>
            </p:cNvPr>
            <p:cNvSpPr/>
            <p:nvPr/>
          </p:nvSpPr>
          <p:spPr>
            <a:xfrm>
              <a:off x="4968001" y="371592"/>
              <a:ext cx="1510971" cy="147599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endParaRPr lang="en-US" sz="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Google Shape;541;p53">
              <a:extLst>
                <a:ext uri="{FF2B5EF4-FFF2-40B4-BE49-F238E27FC236}">
                  <a16:creationId xmlns:a16="http://schemas.microsoft.com/office/drawing/2014/main" id="{BC4761A3-B92C-742E-0617-4CD95E6C4C77}"/>
                </a:ext>
              </a:extLst>
            </p:cNvPr>
            <p:cNvSpPr/>
            <p:nvPr/>
          </p:nvSpPr>
          <p:spPr>
            <a:xfrm>
              <a:off x="4947272" y="386195"/>
              <a:ext cx="1510971" cy="1474251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endParaRPr lang="en-US" sz="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Google Shape;541;p53">
              <a:extLst>
                <a:ext uri="{FF2B5EF4-FFF2-40B4-BE49-F238E27FC236}">
                  <a16:creationId xmlns:a16="http://schemas.microsoft.com/office/drawing/2014/main" id="{957035F3-B0CA-8DE0-F085-B2F042D45030}"/>
                </a:ext>
              </a:extLst>
            </p:cNvPr>
            <p:cNvSpPr/>
            <p:nvPr/>
          </p:nvSpPr>
          <p:spPr>
            <a:xfrm>
              <a:off x="4925455" y="401617"/>
              <a:ext cx="1510971" cy="1474251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</a:t>
              </a:r>
            </a:p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“id”: “stmt:ema.zejula:0:0”,</a:t>
              </a:r>
            </a:p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“type”: “Therapeutic Response”,</a:t>
              </a:r>
            </a:p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”description”: “The European Medicines Agency has approved niraparib for the treatment of patients with…”,</a:t>
              </a:r>
            </a:p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“indication”: “ind:ema.ema.zejula:0”,</a:t>
              </a:r>
            </a:p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</a:t>
              </a:r>
              <a:r>
                <a:rPr lang="en-US" sz="600" dirty="0">
                  <a:solidFill>
                    <a:schemeClr val="dk1"/>
                  </a:solidFill>
                  <a:highlight>
                    <a:srgbClr val="FBE197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”biomarkers”</a:t>
              </a:r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[</a:t>
              </a:r>
            </a:p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“biomarker:g.BRCA1mut”</a:t>
              </a:r>
            </a:p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],</a:t>
              </a:r>
            </a:p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</a:t>
              </a:r>
              <a:r>
                <a:rPr lang="en-US" sz="600" dirty="0">
                  <a:solidFill>
                    <a:schemeClr val="dk1"/>
                  </a:solidFill>
                  <a:highlight>
                    <a:srgbClr val="E2D9E9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”cancer_type”</a:t>
              </a:r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“oncotree:ovt”,</a:t>
              </a:r>
            </a:p>
            <a:p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</a:t>
              </a:r>
              <a:r>
                <a:rPr lang="en-US" sz="600" dirty="0">
                  <a:solidFill>
                    <a:schemeClr val="dk1"/>
                  </a:solidFill>
                  <a:highlight>
                    <a:srgbClr val="DDE2B2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“therapies”</a:t>
              </a:r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” ncit:C80059”</a:t>
              </a:r>
            </a:p>
            <a:p>
              <a:pPr lvl="0"/>
              <a:r>
                <a:rPr lang="en-US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</a:t>
              </a:r>
            </a:p>
          </p:txBody>
        </p:sp>
        <p:sp>
          <p:nvSpPr>
            <p:cNvPr id="4" name="Google Shape;542;p53">
              <a:extLst>
                <a:ext uri="{FF2B5EF4-FFF2-40B4-BE49-F238E27FC236}">
                  <a16:creationId xmlns:a16="http://schemas.microsoft.com/office/drawing/2014/main" id="{5BF69C44-C947-1B14-F0FB-723A7D5E4F61}"/>
                </a:ext>
              </a:extLst>
            </p:cNvPr>
            <p:cNvSpPr txBox="1"/>
            <p:nvPr/>
          </p:nvSpPr>
          <p:spPr>
            <a:xfrm>
              <a:off x="4925455" y="135824"/>
              <a:ext cx="1532570" cy="18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36000" rIns="91425" bIns="36000" anchor="t" anchorCtr="0">
              <a:spAutoFit/>
            </a:bodyPr>
            <a:lstStyle/>
            <a:p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Programmatic Representation</a:t>
              </a:r>
              <a:endParaRPr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Can 9">
              <a:extLst>
                <a:ext uri="{FF2B5EF4-FFF2-40B4-BE49-F238E27FC236}">
                  <a16:creationId xmlns:a16="http://schemas.microsoft.com/office/drawing/2014/main" id="{8F7F52CF-677F-3FA3-28E0-E392EEBF15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7481" y="959192"/>
              <a:ext cx="270000" cy="359100"/>
            </a:xfrm>
            <a:prstGeom prst="can">
              <a:avLst/>
            </a:prstGeom>
            <a:solidFill>
              <a:srgbClr val="E2D9E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EFF918-6163-CB9C-57DC-6CB2DEB94B14}"/>
                </a:ext>
              </a:extLst>
            </p:cNvPr>
            <p:cNvSpPr txBox="1"/>
            <p:nvPr/>
          </p:nvSpPr>
          <p:spPr>
            <a:xfrm>
              <a:off x="2507482" y="954076"/>
              <a:ext cx="19765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Ovarian Epithelial Tumor (OVT)</a:t>
              </a:r>
            </a:p>
            <a:p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High-Grade Serous Fallopian Tube Cancer (HGSFT)</a:t>
              </a:r>
            </a:p>
            <a:p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Peritoneal Serous Carcinoma (PSEC)</a:t>
              </a:r>
            </a:p>
          </p:txBody>
        </p:sp>
        <p:sp>
          <p:nvSpPr>
            <p:cNvPr id="23" name="Google Shape;541;p53">
              <a:extLst>
                <a:ext uri="{FF2B5EF4-FFF2-40B4-BE49-F238E27FC236}">
                  <a16:creationId xmlns:a16="http://schemas.microsoft.com/office/drawing/2014/main" id="{1FFBEEE4-0D9E-FC47-6C9A-3DF81B60B4BE}"/>
                </a:ext>
              </a:extLst>
            </p:cNvPr>
            <p:cNvSpPr/>
            <p:nvPr/>
          </p:nvSpPr>
          <p:spPr>
            <a:xfrm>
              <a:off x="61026" y="666778"/>
              <a:ext cx="1694341" cy="943931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" sz="600" dirty="0">
                  <a:solidFill>
                    <a:schemeClr val="dk1"/>
                  </a:solidFill>
                  <a:highlight>
                    <a:srgbClr val="DDE2B2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ZEJULA is a poly (ADP-ribose) polymerase (PARP) inhibitor</a:t>
              </a:r>
              <a:r>
                <a:rPr lang="en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indicated for the maintenance treatment of adult patients with </a:t>
              </a:r>
              <a:r>
                <a:rPr lang="en" sz="600" dirty="0">
                  <a:solidFill>
                    <a:schemeClr val="dk1"/>
                  </a:solidFill>
                  <a:highlight>
                    <a:srgbClr val="FBE197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deleterious or suspected deleterious germline BRCA-mutated</a:t>
              </a:r>
              <a:r>
                <a:rPr lang="en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recurrent </a:t>
              </a:r>
              <a:r>
                <a:rPr lang="en" sz="600" dirty="0">
                  <a:highlight>
                    <a:srgbClr val="E2D9E9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epithelial ovarian, fallopian tube, or primary peritoneal cancer</a:t>
              </a:r>
              <a:r>
                <a:rPr lang="en" sz="6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who are in complete or partial response to platinum-based chemotherapy. </a:t>
              </a:r>
              <a:endParaRPr sz="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Google Shape;542;p53">
              <a:extLst>
                <a:ext uri="{FF2B5EF4-FFF2-40B4-BE49-F238E27FC236}">
                  <a16:creationId xmlns:a16="http://schemas.microsoft.com/office/drawing/2014/main" id="{82E523DC-5702-7D79-1E62-E19881870F67}"/>
                </a:ext>
              </a:extLst>
            </p:cNvPr>
            <p:cNvSpPr txBox="1"/>
            <p:nvPr/>
          </p:nvSpPr>
          <p:spPr>
            <a:xfrm>
              <a:off x="61025" y="481470"/>
              <a:ext cx="1167600" cy="18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36000" rIns="91425" bIns="36000" anchor="t" anchorCtr="0">
              <a:spAutoFit/>
            </a:bodyPr>
            <a:lstStyle/>
            <a:p>
              <a:r>
                <a:rPr lang="en" sz="700" dirty="0">
                  <a:latin typeface="Arial" panose="020B0604020202020204" pitchFamily="34" charset="0"/>
                  <a:cs typeface="Arial" panose="020B0604020202020204" pitchFamily="34" charset="0"/>
                </a:rPr>
                <a:t>Indication</a:t>
              </a:r>
              <a:endParaRPr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Can 1">
              <a:extLst>
                <a:ext uri="{FF2B5EF4-FFF2-40B4-BE49-F238E27FC236}">
                  <a16:creationId xmlns:a16="http://schemas.microsoft.com/office/drawing/2014/main" id="{93294363-BCF9-9C1F-F367-ABBB583E16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7481" y="301920"/>
              <a:ext cx="270000" cy="359100"/>
            </a:xfrm>
            <a:prstGeom prst="can">
              <a:avLst/>
            </a:prstGeom>
            <a:solidFill>
              <a:srgbClr val="FBE19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an 5">
              <a:extLst>
                <a:ext uri="{FF2B5EF4-FFF2-40B4-BE49-F238E27FC236}">
                  <a16:creationId xmlns:a16="http://schemas.microsoft.com/office/drawing/2014/main" id="{66CB3361-4E64-DF0E-4DC7-985C02D4E9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7481" y="1610708"/>
              <a:ext cx="270000" cy="359100"/>
            </a:xfrm>
            <a:prstGeom prst="can">
              <a:avLst/>
            </a:prstGeom>
            <a:solidFill>
              <a:srgbClr val="DDE2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6EBDED0-33CE-A2D4-13D4-366C1E5BE8EA}"/>
                </a:ext>
              </a:extLst>
            </p:cNvPr>
            <p:cNvSpPr txBox="1"/>
            <p:nvPr/>
          </p:nvSpPr>
          <p:spPr>
            <a:xfrm>
              <a:off x="2507482" y="364003"/>
              <a:ext cx="18133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Pathogenic / Likely Pathogenic </a:t>
              </a:r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BRCA1 </a:t>
              </a: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variants</a:t>
              </a:r>
            </a:p>
            <a:p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Pathogenic / Likely Pathogenic </a:t>
              </a:r>
              <a:r>
                <a:rPr lang="en-US" sz="600" i="1" dirty="0">
                  <a:latin typeface="Arial" panose="020B0604020202020204" pitchFamily="34" charset="0"/>
                  <a:cs typeface="Arial" panose="020B0604020202020204" pitchFamily="34" charset="0"/>
                </a:rPr>
                <a:t>BRCA2</a:t>
              </a: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 variants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6F8E24-98D8-A61B-2031-C865283F6A72}"/>
                </a:ext>
              </a:extLst>
            </p:cNvPr>
            <p:cNvSpPr txBox="1"/>
            <p:nvPr/>
          </p:nvSpPr>
          <p:spPr>
            <a:xfrm>
              <a:off x="2507482" y="1697925"/>
              <a:ext cx="77136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dirty="0" err="1">
                  <a:latin typeface="Arial" panose="020B0604020202020204" pitchFamily="34" charset="0"/>
                  <a:cs typeface="Arial" panose="020B0604020202020204" pitchFamily="34" charset="0"/>
                </a:rPr>
                <a:t>Zejula</a:t>
              </a:r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 (niraparib)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6A40D36-7A18-4E65-E654-5C442F180FEC}"/>
                </a:ext>
              </a:extLst>
            </p:cNvPr>
            <p:cNvCxnSpPr>
              <a:stCxn id="23" idx="3"/>
              <a:endCxn id="10" idx="2"/>
            </p:cNvCxnSpPr>
            <p:nvPr/>
          </p:nvCxnSpPr>
          <p:spPr>
            <a:xfrm flipV="1">
              <a:off x="1755367" y="1138743"/>
              <a:ext cx="48211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7979CDC-FFA4-1274-5B6A-BF6D8CE0487B}"/>
                </a:ext>
              </a:extLst>
            </p:cNvPr>
            <p:cNvCxnSpPr>
              <a:cxnSpLocks/>
              <a:stCxn id="20" idx="3"/>
              <a:endCxn id="3" idx="1"/>
            </p:cNvCxnSpPr>
            <p:nvPr/>
          </p:nvCxnSpPr>
          <p:spPr>
            <a:xfrm>
              <a:off x="4483984" y="1138743"/>
              <a:ext cx="44147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1414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1413</TotalTime>
  <Words>182</Words>
  <Application>Microsoft Macintosh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Reardon, Brendan</dc:creator>
  <cp:lastModifiedBy>Reardon, Brendan</cp:lastModifiedBy>
  <cp:revision>28</cp:revision>
  <cp:lastPrinted>2021-05-27T06:11:57Z</cp:lastPrinted>
  <dcterms:created xsi:type="dcterms:W3CDTF">2021-05-06T13:10:54Z</dcterms:created>
  <dcterms:modified xsi:type="dcterms:W3CDTF">2025-10-16T00:28:12Z</dcterms:modified>
</cp:coreProperties>
</file>