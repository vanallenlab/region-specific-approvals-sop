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64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e51a9b16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e51a9b16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21"/>
          <p:cNvGrpSpPr/>
          <p:nvPr/>
        </p:nvGrpSpPr>
        <p:grpSpPr>
          <a:xfrm>
            <a:off x="400088" y="2211275"/>
            <a:ext cx="2377713" cy="883375"/>
            <a:chOff x="1004063" y="2768625"/>
            <a:chExt cx="2377713" cy="883375"/>
          </a:xfrm>
        </p:grpSpPr>
        <p:sp>
          <p:nvSpPr>
            <p:cNvPr id="184" name="Google Shape;184;p21"/>
            <p:cNvSpPr/>
            <p:nvPr/>
          </p:nvSpPr>
          <p:spPr>
            <a:xfrm>
              <a:off x="1004063" y="2768625"/>
              <a:ext cx="2273400" cy="769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1055288" y="2828700"/>
              <a:ext cx="2273400" cy="769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6" name="Google Shape;186;p21" title="Screenshot 2025-03-27 at 1.43.56 PM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8450" y="2882750"/>
              <a:ext cx="2273325" cy="76925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187" name="Google Shape;187;p21"/>
          <p:cNvGrpSpPr/>
          <p:nvPr/>
        </p:nvGrpSpPr>
        <p:grpSpPr>
          <a:xfrm>
            <a:off x="400050" y="169124"/>
            <a:ext cx="2377800" cy="1549733"/>
            <a:chOff x="400050" y="1216888"/>
            <a:chExt cx="2377800" cy="1549733"/>
          </a:xfrm>
        </p:grpSpPr>
        <p:grpSp>
          <p:nvGrpSpPr>
            <p:cNvPr id="188" name="Google Shape;188;p21"/>
            <p:cNvGrpSpPr/>
            <p:nvPr/>
          </p:nvGrpSpPr>
          <p:grpSpPr>
            <a:xfrm>
              <a:off x="1199000" y="1216888"/>
              <a:ext cx="779900" cy="927675"/>
              <a:chOff x="44275" y="2531100"/>
              <a:chExt cx="779900" cy="927675"/>
            </a:xfrm>
          </p:grpSpPr>
          <p:sp>
            <p:nvSpPr>
              <p:cNvPr id="189" name="Google Shape;189;p21"/>
              <p:cNvSpPr/>
              <p:nvPr/>
            </p:nvSpPr>
            <p:spPr>
              <a:xfrm>
                <a:off x="44275" y="2531100"/>
                <a:ext cx="681600" cy="849900"/>
              </a:xfrm>
              <a:prstGeom prst="snip1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/>
                  <a:t>PDF</a:t>
                </a:r>
                <a:endParaRPr sz="1100"/>
              </a:p>
            </p:txBody>
          </p:sp>
          <p:sp>
            <p:nvSpPr>
              <p:cNvPr id="190" name="Google Shape;190;p21"/>
              <p:cNvSpPr/>
              <p:nvPr/>
            </p:nvSpPr>
            <p:spPr>
              <a:xfrm>
                <a:off x="91350" y="2571750"/>
                <a:ext cx="681600" cy="849900"/>
              </a:xfrm>
              <a:prstGeom prst="snip1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/>
                  <a:t>PDF</a:t>
                </a:r>
                <a:endParaRPr sz="1100"/>
              </a:p>
            </p:txBody>
          </p:sp>
          <p:sp>
            <p:nvSpPr>
              <p:cNvPr id="191" name="Google Shape;191;p21"/>
              <p:cNvSpPr/>
              <p:nvPr/>
            </p:nvSpPr>
            <p:spPr>
              <a:xfrm>
                <a:off x="142575" y="2608875"/>
                <a:ext cx="681600" cy="849900"/>
              </a:xfrm>
              <a:prstGeom prst="snip1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/>
                  <a:t>PDF</a:t>
                </a:r>
                <a:endParaRPr sz="1100"/>
              </a:p>
            </p:txBody>
          </p:sp>
        </p:grpSp>
        <p:sp>
          <p:nvSpPr>
            <p:cNvPr id="192" name="Google Shape;192;p21"/>
            <p:cNvSpPr txBox="1"/>
            <p:nvPr/>
          </p:nvSpPr>
          <p:spPr>
            <a:xfrm>
              <a:off x="400050" y="2208921"/>
              <a:ext cx="2377800" cy="5577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Gather citable documents</a:t>
              </a:r>
              <a:endParaRPr sz="1200">
                <a:solidFill>
                  <a:schemeClr val="dk2"/>
                </a:solidFill>
              </a:endParaRPr>
            </a:p>
          </p:txBody>
        </p:sp>
      </p:grpSp>
      <p:sp>
        <p:nvSpPr>
          <p:cNvPr id="193" name="Google Shape;193;p21"/>
          <p:cNvSpPr txBox="1"/>
          <p:nvPr/>
        </p:nvSpPr>
        <p:spPr>
          <a:xfrm>
            <a:off x="400050" y="3313912"/>
            <a:ext cx="2377800" cy="557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Extract regulatory approvals</a:t>
            </a:r>
            <a:endParaRPr sz="1200">
              <a:solidFill>
                <a:schemeClr val="dk2"/>
              </a:solidFill>
            </a:endParaRPr>
          </a:p>
        </p:txBody>
      </p:sp>
      <p:grpSp>
        <p:nvGrpSpPr>
          <p:cNvPr id="194" name="Google Shape;194;p21"/>
          <p:cNvGrpSpPr/>
          <p:nvPr/>
        </p:nvGrpSpPr>
        <p:grpSpPr>
          <a:xfrm>
            <a:off x="3319538" y="314275"/>
            <a:ext cx="2504925" cy="3557325"/>
            <a:chOff x="3307975" y="1300238"/>
            <a:chExt cx="2504925" cy="3557325"/>
          </a:xfrm>
        </p:grpSpPr>
        <p:grpSp>
          <p:nvGrpSpPr>
            <p:cNvPr id="195" name="Google Shape;195;p21"/>
            <p:cNvGrpSpPr/>
            <p:nvPr/>
          </p:nvGrpSpPr>
          <p:grpSpPr>
            <a:xfrm>
              <a:off x="3374569" y="1300238"/>
              <a:ext cx="849900" cy="853913"/>
              <a:chOff x="3155350" y="1300238"/>
              <a:chExt cx="849900" cy="853913"/>
            </a:xfrm>
          </p:grpSpPr>
          <p:sp>
            <p:nvSpPr>
              <p:cNvPr id="196" name="Google Shape;196;p21"/>
              <p:cNvSpPr/>
              <p:nvPr/>
            </p:nvSpPr>
            <p:spPr>
              <a:xfrm>
                <a:off x="3397420" y="1300238"/>
                <a:ext cx="365760" cy="463296"/>
              </a:xfrm>
              <a:prstGeom prst="flowChartMagneticDisk">
                <a:avLst/>
              </a:prstGeom>
              <a:solidFill>
                <a:srgbClr val="FFF2C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1"/>
              <p:cNvSpPr txBox="1"/>
              <p:nvPr/>
            </p:nvSpPr>
            <p:spPr>
              <a:xfrm>
                <a:off x="3155350" y="1831050"/>
                <a:ext cx="8499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chemeClr val="dk2"/>
                    </a:solidFill>
                  </a:rPr>
                  <a:t>biomarkers</a:t>
                </a:r>
                <a:endParaRPr sz="90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198" name="Google Shape;198;p21"/>
            <p:cNvGrpSpPr/>
            <p:nvPr/>
          </p:nvGrpSpPr>
          <p:grpSpPr>
            <a:xfrm>
              <a:off x="4147050" y="1300238"/>
              <a:ext cx="849900" cy="853913"/>
              <a:chOff x="3914150" y="1300238"/>
              <a:chExt cx="849900" cy="853913"/>
            </a:xfrm>
          </p:grpSpPr>
          <p:sp>
            <p:nvSpPr>
              <p:cNvPr id="199" name="Google Shape;199;p21"/>
              <p:cNvSpPr/>
              <p:nvPr/>
            </p:nvSpPr>
            <p:spPr>
              <a:xfrm>
                <a:off x="4156220" y="1300238"/>
                <a:ext cx="365760" cy="463296"/>
              </a:xfrm>
              <a:prstGeom prst="flowChartMagneticDisk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1"/>
              <p:cNvSpPr txBox="1"/>
              <p:nvPr/>
            </p:nvSpPr>
            <p:spPr>
              <a:xfrm>
                <a:off x="3914150" y="1831050"/>
                <a:ext cx="8499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chemeClr val="dk2"/>
                    </a:solidFill>
                  </a:rPr>
                  <a:t>cancer types</a:t>
                </a:r>
                <a:endParaRPr sz="90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201" name="Google Shape;201;p21"/>
            <p:cNvGrpSpPr/>
            <p:nvPr/>
          </p:nvGrpSpPr>
          <p:grpSpPr>
            <a:xfrm>
              <a:off x="4919531" y="1300238"/>
              <a:ext cx="849900" cy="853913"/>
              <a:chOff x="4700313" y="1300238"/>
              <a:chExt cx="849900" cy="853913"/>
            </a:xfrm>
          </p:grpSpPr>
          <p:sp>
            <p:nvSpPr>
              <p:cNvPr id="202" name="Google Shape;202;p21"/>
              <p:cNvSpPr/>
              <p:nvPr/>
            </p:nvSpPr>
            <p:spPr>
              <a:xfrm>
                <a:off x="4942383" y="1300238"/>
                <a:ext cx="365760" cy="463296"/>
              </a:xfrm>
              <a:prstGeom prst="flowChartMagneticDisk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1"/>
              <p:cNvSpPr txBox="1"/>
              <p:nvPr/>
            </p:nvSpPr>
            <p:spPr>
              <a:xfrm>
                <a:off x="4700313" y="1831050"/>
                <a:ext cx="8499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chemeClr val="dk2"/>
                    </a:solidFill>
                  </a:rPr>
                  <a:t>therapies</a:t>
                </a:r>
                <a:endParaRPr sz="900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204" name="Google Shape;204;p21"/>
            <p:cNvSpPr txBox="1"/>
            <p:nvPr/>
          </p:nvSpPr>
          <p:spPr>
            <a:xfrm>
              <a:off x="3383100" y="2172283"/>
              <a:ext cx="2377800" cy="5541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Derive concepts and clinical implication relationships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205" name="Google Shape;205;p21"/>
            <p:cNvSpPr txBox="1"/>
            <p:nvPr/>
          </p:nvSpPr>
          <p:spPr>
            <a:xfrm>
              <a:off x="3383100" y="4303463"/>
              <a:ext cx="2377800" cy="5541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Align with representation ontologies and standards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206" name="Google Shape;206;p21"/>
            <p:cNvSpPr txBox="1"/>
            <p:nvPr/>
          </p:nvSpPr>
          <p:spPr>
            <a:xfrm>
              <a:off x="3307975" y="3197175"/>
              <a:ext cx="983100" cy="88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non-small cell lung cancer</a:t>
              </a:r>
              <a:endParaRPr sz="1200">
                <a:solidFill>
                  <a:schemeClr val="dk2"/>
                </a:solidFill>
              </a:endParaRPr>
            </a:p>
          </p:txBody>
        </p:sp>
        <p:grpSp>
          <p:nvGrpSpPr>
            <p:cNvPr id="207" name="Google Shape;207;p21"/>
            <p:cNvGrpSpPr/>
            <p:nvPr/>
          </p:nvGrpSpPr>
          <p:grpSpPr>
            <a:xfrm>
              <a:off x="4634475" y="3197175"/>
              <a:ext cx="1178425" cy="884600"/>
              <a:chOff x="4634475" y="3055588"/>
              <a:chExt cx="1178425" cy="884600"/>
            </a:xfrm>
          </p:grpSpPr>
          <p:sp>
            <p:nvSpPr>
              <p:cNvPr id="208" name="Google Shape;208;p21"/>
              <p:cNvSpPr txBox="1"/>
              <p:nvPr/>
            </p:nvSpPr>
            <p:spPr>
              <a:xfrm>
                <a:off x="4634475" y="3055588"/>
                <a:ext cx="11784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2"/>
                    </a:solidFill>
                  </a:rPr>
                  <a:t>ICD10:C34.90</a:t>
                </a:r>
                <a:endParaRPr sz="1200">
                  <a:solidFill>
                    <a:schemeClr val="dk2"/>
                  </a:solidFill>
                </a:endParaRPr>
              </a:p>
            </p:txBody>
          </p:sp>
          <p:sp>
            <p:nvSpPr>
              <p:cNvPr id="209" name="Google Shape;209;p21"/>
              <p:cNvSpPr txBox="1"/>
              <p:nvPr/>
            </p:nvSpPr>
            <p:spPr>
              <a:xfrm>
                <a:off x="4634500" y="3570888"/>
                <a:ext cx="11784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2"/>
                    </a:solidFill>
                  </a:rPr>
                  <a:t>oncotree:nsclc</a:t>
                </a:r>
                <a:endParaRPr sz="1200">
                  <a:solidFill>
                    <a:schemeClr val="dk2"/>
                  </a:solidFill>
                </a:endParaRPr>
              </a:p>
            </p:txBody>
          </p:sp>
        </p:grpSp>
        <p:cxnSp>
          <p:nvCxnSpPr>
            <p:cNvPr id="210" name="Google Shape;210;p21"/>
            <p:cNvCxnSpPr>
              <a:stCxn id="206" idx="3"/>
              <a:endCxn id="208" idx="1"/>
            </p:cNvCxnSpPr>
            <p:nvPr/>
          </p:nvCxnSpPr>
          <p:spPr>
            <a:xfrm rot="10800000" flipH="1">
              <a:off x="4291075" y="3381825"/>
              <a:ext cx="343500" cy="258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1" name="Google Shape;211;p21"/>
            <p:cNvCxnSpPr>
              <a:stCxn id="206" idx="3"/>
              <a:endCxn id="209" idx="1"/>
            </p:cNvCxnSpPr>
            <p:nvPr/>
          </p:nvCxnSpPr>
          <p:spPr>
            <a:xfrm>
              <a:off x="4291075" y="3640725"/>
              <a:ext cx="343500" cy="25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12" name="Google Shape;212;p21"/>
          <p:cNvGrpSpPr/>
          <p:nvPr/>
        </p:nvGrpSpPr>
        <p:grpSpPr>
          <a:xfrm>
            <a:off x="6565766" y="2368419"/>
            <a:ext cx="1978574" cy="572701"/>
            <a:chOff x="6507291" y="3354382"/>
            <a:chExt cx="1978574" cy="572701"/>
          </a:xfrm>
        </p:grpSpPr>
        <p:pic>
          <p:nvPicPr>
            <p:cNvPr id="213" name="Google Shape;213;p21"/>
            <p:cNvPicPr preferRelativeResize="0"/>
            <p:nvPr/>
          </p:nvPicPr>
          <p:blipFill rotWithShape="1">
            <a:blip r:embed="rId4">
              <a:alphaModFix/>
            </a:blip>
            <a:srcRect l="11648" t="9446" r="14951" b="14922"/>
            <a:stretch/>
          </p:blipFill>
          <p:spPr>
            <a:xfrm>
              <a:off x="6507291" y="3354382"/>
              <a:ext cx="555825" cy="572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919541" y="3357550"/>
              <a:ext cx="566324" cy="5663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5" name="Google Shape;215;p21"/>
          <p:cNvGrpSpPr/>
          <p:nvPr/>
        </p:nvGrpSpPr>
        <p:grpSpPr>
          <a:xfrm>
            <a:off x="6366138" y="290924"/>
            <a:ext cx="2377800" cy="1429746"/>
            <a:chOff x="6415238" y="1300238"/>
            <a:chExt cx="2377800" cy="1429746"/>
          </a:xfrm>
        </p:grpSpPr>
        <p:sp>
          <p:nvSpPr>
            <p:cNvPr id="216" name="Google Shape;216;p21"/>
            <p:cNvSpPr/>
            <p:nvPr/>
          </p:nvSpPr>
          <p:spPr>
            <a:xfrm>
              <a:off x="7332025" y="1300238"/>
              <a:ext cx="544225" cy="687675"/>
            </a:xfrm>
            <a:prstGeom prst="flowChartMagneticDisk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1"/>
            <p:cNvSpPr txBox="1"/>
            <p:nvPr/>
          </p:nvSpPr>
          <p:spPr>
            <a:xfrm>
              <a:off x="6415238" y="2172283"/>
              <a:ext cx="2377800" cy="5577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Curate into a knowledge base</a:t>
              </a:r>
              <a:endParaRPr sz="1200">
                <a:solidFill>
                  <a:schemeClr val="dk2"/>
                </a:solidFill>
              </a:endParaRPr>
            </a:p>
          </p:txBody>
        </p:sp>
      </p:grpSp>
      <p:sp>
        <p:nvSpPr>
          <p:cNvPr id="218" name="Google Shape;218;p21"/>
          <p:cNvSpPr/>
          <p:nvPr/>
        </p:nvSpPr>
        <p:spPr>
          <a:xfrm>
            <a:off x="1485900" y="2077582"/>
            <a:ext cx="2061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9" name="Google Shape;219;p21"/>
          <p:cNvCxnSpPr>
            <a:stCxn id="192" idx="2"/>
            <a:endCxn id="218" idx="0"/>
          </p:cNvCxnSpPr>
          <p:nvPr/>
        </p:nvCxnSpPr>
        <p:spPr>
          <a:xfrm>
            <a:off x="1588950" y="1718858"/>
            <a:ext cx="0" cy="358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0" name="Google Shape;220;p21"/>
          <p:cNvSpPr/>
          <p:nvPr/>
        </p:nvSpPr>
        <p:spPr>
          <a:xfrm>
            <a:off x="4474675" y="2077582"/>
            <a:ext cx="2061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1" name="Google Shape;221;p21"/>
          <p:cNvCxnSpPr>
            <a:stCxn id="204" idx="2"/>
            <a:endCxn id="220" idx="0"/>
          </p:cNvCxnSpPr>
          <p:nvPr/>
        </p:nvCxnSpPr>
        <p:spPr>
          <a:xfrm flipH="1">
            <a:off x="4577863" y="1740420"/>
            <a:ext cx="5700" cy="337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21"/>
          <p:cNvCxnSpPr>
            <a:stCxn id="217" idx="2"/>
            <a:endCxn id="213" idx="0"/>
          </p:cNvCxnSpPr>
          <p:nvPr/>
        </p:nvCxnSpPr>
        <p:spPr>
          <a:xfrm rot="5400000">
            <a:off x="6875538" y="1688870"/>
            <a:ext cx="647700" cy="711300"/>
          </a:xfrm>
          <a:prstGeom prst="bentConnector3">
            <a:avLst>
              <a:gd name="adj1" fmla="val 7098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3" name="Google Shape;223;p21"/>
          <p:cNvCxnSpPr>
            <a:stCxn id="217" idx="2"/>
            <a:endCxn id="214" idx="0"/>
          </p:cNvCxnSpPr>
          <p:nvPr/>
        </p:nvCxnSpPr>
        <p:spPr>
          <a:xfrm rot="-5400000" flipH="1">
            <a:off x="7582638" y="1693070"/>
            <a:ext cx="651000" cy="706200"/>
          </a:xfrm>
          <a:prstGeom prst="bentConnector3">
            <a:avLst>
              <a:gd name="adj1" fmla="val 70629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4" name="Google Shape;224;p21"/>
          <p:cNvCxnSpPr>
            <a:stCxn id="193" idx="3"/>
            <a:endCxn id="204" idx="1"/>
          </p:cNvCxnSpPr>
          <p:nvPr/>
        </p:nvCxnSpPr>
        <p:spPr>
          <a:xfrm rot="10800000" flipH="1">
            <a:off x="2777850" y="1463362"/>
            <a:ext cx="616800" cy="2129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5" name="Google Shape;225;p21"/>
          <p:cNvCxnSpPr>
            <a:stCxn id="205" idx="3"/>
            <a:endCxn id="217" idx="1"/>
          </p:cNvCxnSpPr>
          <p:nvPr/>
        </p:nvCxnSpPr>
        <p:spPr>
          <a:xfrm rot="10800000" flipH="1">
            <a:off x="5772463" y="1441750"/>
            <a:ext cx="593700" cy="2152800"/>
          </a:xfrm>
          <a:prstGeom prst="bentConnector3">
            <a:avLst>
              <a:gd name="adj1" fmla="val 4999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6" name="Google Shape;226;p21"/>
          <p:cNvSpPr txBox="1"/>
          <p:nvPr/>
        </p:nvSpPr>
        <p:spPr>
          <a:xfrm>
            <a:off x="6366138" y="3315700"/>
            <a:ext cx="2377800" cy="554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Enable programmatic and interactive access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Macintosh PowerPoint</Application>
  <PresentationFormat>On-screen Show (16:9)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Reardon, Brendan</cp:lastModifiedBy>
  <cp:revision>1</cp:revision>
  <dcterms:modified xsi:type="dcterms:W3CDTF">2025-09-23T18:32:56Z</dcterms:modified>
</cp:coreProperties>
</file>